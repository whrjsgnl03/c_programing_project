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4600" b="1">
                <a:solidFill>
                  <a:srgbClr val="FFFFFF"/>
                </a:solidFill>
                <a:latin typeface="Malgun Gothic"/>
              </a:defRPr>
            </a:pPr>
            <a:r>
              <a:t>C언어 성적 산출 프로그램</a:t>
            </a:r>
          </a:p>
          <a:p>
            <a:pPr>
              <a:spcAft>
                <a:spcPts val="4000"/>
              </a:spcAft>
              <a:defRPr sz="2000">
                <a:solidFill>
                  <a:srgbClr val="38BDF8"/>
                </a:solidFill>
                <a:latin typeface="Malgun Gothic"/>
              </a:defRPr>
            </a:pPr>
            <a:r>
              <a:t>포인터와 구조체 배열을 활용한 가벼운 성적 관리 시스템</a:t>
            </a:r>
          </a:p>
          <a:p>
            <a:pPr>
              <a:defRPr sz="1400">
                <a:solidFill>
                  <a:srgbClr val="94A3B8"/>
                </a:solidFill>
                <a:latin typeface="Malgun Gothic"/>
              </a:defRPr>
            </a:pPr>
            <a:r>
              <a:t>대덕소프트웨어마이스터고등학교</a:t>
            </a:r>
            <a:br/>
            <a:r>
              <a:t>발표자 : 성적 산출 수행평가 대상자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ADE80"/>
                </a:solidFill>
                <a:latin typeface="Malgun Gothic"/>
              </a:defRPr>
            </a:pPr>
            <a:r>
              <a:t>C언어 수행평가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프로그램 흐름 3단계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800"/>
              </a:spcAft>
            </a:pPr>
            <a:r>
              <a:rPr sz="2200" b="1">
                <a:solidFill>
                  <a:srgbClr val="38BDF8"/>
                </a:solidFill>
                <a:latin typeface="Malgun Gothic"/>
              </a:rPr>
              <a:t>01  설정 단계      </a:t>
            </a:r>
            <a:r>
              <a:rPr sz="2000" b="1">
                <a:solidFill>
                  <a:srgbClr val="FFFFFF"/>
                </a:solidFill>
                <a:latin typeface="Malgun Gothic"/>
              </a:rPr>
              <a:t>과목 이름 설정  ▶  등록할 학생 수 지정</a:t>
            </a:r>
          </a:p>
          <a:p>
            <a:pPr>
              <a:spcAft>
                <a:spcPts val="2800"/>
              </a:spcAft>
            </a:pPr>
            <a:r>
              <a:rPr sz="2200" b="1">
                <a:solidFill>
                  <a:srgbClr val="38BDF8"/>
                </a:solidFill>
                <a:latin typeface="Malgun Gothic"/>
              </a:rPr>
              <a:t>02  입력 단계      </a:t>
            </a:r>
            <a:r>
              <a:rPr sz="2000" b="1">
                <a:solidFill>
                  <a:srgbClr val="FFFFFF"/>
                </a:solidFill>
                <a:latin typeface="Malgun Gothic"/>
              </a:rPr>
              <a:t>학생 수만큼 루프 실행  ▶  학생 이름 및 과목 점수 기입</a:t>
            </a:r>
          </a:p>
          <a:p>
            <a:pPr>
              <a:spcAft>
                <a:spcPts val="2800"/>
              </a:spcAft>
            </a:pPr>
            <a:r>
              <a:rPr sz="2200" b="1">
                <a:solidFill>
                  <a:srgbClr val="38BDF8"/>
                </a:solidFill>
                <a:latin typeface="Malgun Gothic"/>
              </a:rPr>
              <a:t>03  출력 단계      </a:t>
            </a:r>
            <a:r>
              <a:rPr sz="2000" b="1">
                <a:solidFill>
                  <a:srgbClr val="FFFFFF"/>
                </a:solidFill>
                <a:latin typeface="Malgun Gothic"/>
              </a:rPr>
              <a:t>평가 조건문 판별  ▶  이름, 점수, 변환 학점(A~E) 일괄 출력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ADE80"/>
                </a:solidFill>
                <a:latin typeface="Malgun Gothic"/>
              </a:defRPr>
            </a:pPr>
            <a:r>
              <a:t>C언어 수행평가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핵심 개념 : 구조체와 배열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400"/>
              </a:spcAft>
            </a:pPr>
            <a:r>
              <a:rPr sz="2200" b="1">
                <a:solidFill>
                  <a:srgbClr val="4ADE80"/>
                </a:solidFill>
                <a:latin typeface="Malgun Gothic"/>
              </a:rPr>
              <a:t>■ Student 구조체
</a:t>
            </a:r>
            <a:r>
              <a:rPr sz="1600">
                <a:solidFill>
                  <a:srgbClr val="94A3B8"/>
                </a:solidFill>
                <a:latin typeface="Malgun Gothic"/>
              </a:rPr>
              <a:t>이름(char), 점수(int), 학점(char) 데이터를 하나로 그룹화하여 학생 개별 정보를 관리합니다.</a:t>
            </a:r>
          </a:p>
          <a:p>
            <a:pPr>
              <a:spcAft>
                <a:spcPts val="2400"/>
              </a:spcAft>
            </a:pPr>
            <a:r>
              <a:rPr sz="2200" b="1">
                <a:solidFill>
                  <a:srgbClr val="4ADE80"/>
                </a:solidFill>
                <a:latin typeface="Malgun Gothic"/>
              </a:rPr>
              <a:t>■ list[100] 배열
</a:t>
            </a:r>
            <a:r>
              <a:rPr sz="1600">
                <a:solidFill>
                  <a:srgbClr val="94A3B8"/>
                </a:solidFill>
                <a:latin typeface="Malgun Gothic"/>
              </a:rPr>
              <a:t>구조체 데이터를 연속된 공간에 한 번에 보관하여, 반복 처리와 출력을 용이하게 만듭니다.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182880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8BDF8"/>
                </a:solidFill>
                <a:latin typeface="Consolas"/>
              </a:defRPr>
            </a:pPr>
            <a:r>
              <a:t>typedef struct {</a:t>
            </a:r>
            <a:br/>
            <a:r>
              <a:t>    char name[20];</a:t>
            </a:r>
            <a:br/>
            <a:r>
              <a:t>    int score;</a:t>
            </a:r>
            <a:br/>
            <a:r>
              <a:t>    char grade;</a:t>
            </a:r>
            <a:br/>
            <a:r>
              <a:t>} Student;</a:t>
            </a:r>
            <a:br/>
            <a:br/>
            <a:r>
              <a:t>// 100명 분량의 구조체 배열 생성</a:t>
            </a:r>
            <a:br/>
            <a:r>
              <a:t>Student list[100];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ADE80"/>
                </a:solidFill>
                <a:latin typeface="Malgun Gothic"/>
              </a:defRPr>
            </a:pPr>
            <a:r>
              <a:t>C언어 수행평가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핵심 제어 : 반복문과 입출력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400"/>
              </a:spcAft>
            </a:pPr>
            <a:r>
              <a:rPr sz="2200" b="1">
                <a:solidFill>
                  <a:srgbClr val="4ADE80"/>
                </a:solidFill>
                <a:latin typeface="Malgun Gothic"/>
              </a:rPr>
              <a:t>■ 입력과 출력
</a:t>
            </a:r>
            <a:r>
              <a:rPr sz="1600">
                <a:solidFill>
                  <a:srgbClr val="94A3B8"/>
                </a:solidFill>
                <a:latin typeface="Malgun Gothic"/>
              </a:rPr>
              <a:t>printf로 질문을 띄우고, scanf를 사용하여 실시간으로 값을 입력받아 변수에 대입합니다.</a:t>
            </a:r>
          </a:p>
          <a:p>
            <a:pPr>
              <a:spcAft>
                <a:spcPts val="2400"/>
              </a:spcAft>
            </a:pPr>
            <a:r>
              <a:rPr sz="2200" b="1">
                <a:solidFill>
                  <a:srgbClr val="4ADE80"/>
                </a:solidFill>
                <a:latin typeface="Malgun Gothic"/>
              </a:rPr>
              <a:t>■ 단일 루프 반복문
</a:t>
            </a:r>
            <a:r>
              <a:rPr sz="1600">
                <a:solidFill>
                  <a:srgbClr val="94A3B8"/>
                </a:solidFill>
                <a:latin typeface="Malgun Gothic"/>
              </a:rPr>
              <a:t>입력받은 학생 수(count)만큼만 돌면서 성적을 한 번에 반복 수집하고 계산합니다.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182880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38BDF8"/>
                </a:solidFill>
                <a:latin typeface="Consolas"/>
              </a:defRPr>
            </a:pPr>
            <a:r>
              <a:t>for (int i = 0; i &lt; count; i++) {</a:t>
            </a:r>
            <a:br/>
            <a:r>
              <a:t>    printf("이름: ");</a:t>
            </a:r>
            <a:br/>
            <a:r>
              <a:t>    scanf("%s", list[i].name);</a:t>
            </a:r>
            <a:br/>
            <a:r>
              <a:t>    </a:t>
            </a:r>
            <a:br/>
            <a:r>
              <a:t>    printf("%s 점수 입력: ", subject);</a:t>
            </a:r>
            <a:br/>
            <a:r>
              <a:t>    scanf("%d", &amp;list[i].score);</a:t>
            </a:r>
            <a:br/>
            <a:r>
              <a:t>    </a:t>
            </a:r>
            <a:br/>
            <a:r>
              <a:t>    setGrade(&amp;list[i]); // 주소 전달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ADE80"/>
                </a:solidFill>
                <a:latin typeface="Malgun Gothic"/>
              </a:defRPr>
            </a:pPr>
            <a:r>
              <a:t>C언어 수행평가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핵심 뼈대 : 함수와 주소 전달(포인터)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400"/>
              </a:spcAft>
            </a:pPr>
            <a:r>
              <a:rPr sz="2200" b="1">
                <a:solidFill>
                  <a:srgbClr val="4ADE80"/>
                </a:solidFill>
                <a:latin typeface="Malgun Gothic"/>
              </a:rPr>
              <a:t>■ setGrade 함수 분리
</a:t>
            </a:r>
            <a:r>
              <a:rPr sz="1600">
                <a:solidFill>
                  <a:srgbClr val="94A3B8"/>
                </a:solidFill>
                <a:latin typeface="Malgun Gothic"/>
              </a:rPr>
              <a:t>학점을 나누는 조건 분기 코드만 따로 분리하여 가독성과 유지보수성을 극대화합니다.</a:t>
            </a:r>
          </a:p>
          <a:p>
            <a:pPr>
              <a:spcAft>
                <a:spcPts val="2400"/>
              </a:spcAft>
            </a:pPr>
            <a:r>
              <a:rPr sz="2200" b="1">
                <a:solidFill>
                  <a:srgbClr val="4ADE80"/>
                </a:solidFill>
                <a:latin typeface="Malgun Gothic"/>
              </a:rPr>
              <a:t>■ 구조체 포인터 매개변수
</a:t>
            </a:r>
            <a:r>
              <a:rPr sz="1600">
                <a:solidFill>
                  <a:srgbClr val="94A3B8"/>
                </a:solidFill>
                <a:latin typeface="Malgun Gothic"/>
              </a:rPr>
              <a:t>주소값(&amp;)을 매개변수 포인터(Student* s)로 전달받아 함수 내부에서 메인의 학생 데이터를 직접 수정합니다.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182880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8BDF8"/>
                </a:solidFill>
                <a:latin typeface="Consolas"/>
              </a:defRPr>
            </a:pPr>
            <a:r>
              <a:t>// 구조체 주소를 직접 전달받는 포인터 s</a:t>
            </a:r>
            <a:br/>
            <a:r>
              <a:t>void setGrade(Student* s) {</a:t>
            </a:r>
            <a:br/>
            <a:r>
              <a:t>    if (s-&gt;score &gt;= 90) s-&gt;grade = 'A';</a:t>
            </a:r>
            <a:br/>
            <a:r>
              <a:t>    else if (s-&gt;score &gt;= 80) s-&gt;grade = 'B';</a:t>
            </a:r>
            <a:br/>
            <a:r>
              <a:t>    else if (s-&gt;score &gt;= 70) s-&gt;grade = 'C';</a:t>
            </a:r>
            <a:br/>
            <a:r>
              <a:t>    else if (s-&gt;score &gt;= 60) s-&gt;grade = 'D';</a:t>
            </a:r>
            <a:br/>
            <a:r>
              <a:t>    else s-&gt;grade = 'E';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ADE80"/>
                </a:solidFill>
                <a:latin typeface="Malgun Gothic"/>
              </a:defRPr>
            </a:pPr>
            <a:r>
              <a:t>C언어 수행평가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실행 화면 및 발표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4ADE80"/>
                </a:solidFill>
                <a:latin typeface="Malgun Gothic"/>
              </a:defRPr>
            </a:pPr>
            <a:r>
              <a:t>■ 발표 정리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  <a:latin typeface="Malgun Gothic"/>
              </a:defRPr>
            </a:pPr>
            <a:r>
              <a:t>✔ 평가 조건인 7개 핵심 요소를 모두 포함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  <a:latin typeface="Malgun Gothic"/>
              </a:defRPr>
            </a:pPr>
            <a:r>
              <a:t>✔ 주석과 불필요한 계산을 줄인 직관적인 코드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  <a:latin typeface="Malgun Gothic"/>
              </a:defRPr>
            </a:pPr>
            <a:r>
              <a:t>✔ 포인터와 구조체를 활용한 우수한 효율성</a:t>
            </a:r>
          </a:p>
          <a:p>
            <a:br/>
            <a:pPr>
              <a:defRPr sz="1800" b="1">
                <a:solidFill>
                  <a:srgbClr val="38BDF8"/>
                </a:solidFill>
                <a:latin typeface="Malgun Gothic"/>
              </a:defRPr>
            </a:pPr>
            <a:r>
              <a:t>질문이 있으시면 편하게 받겠습니다.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82880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Consolas"/>
              </a:defRPr>
            </a:pPr>
            <a:r>
              <a:t>[실행 예시]</a:t>
            </a:r>
            <a:br/>
            <a:br/>
            <a:r>
              <a:t>과목명 입력: C언어</a:t>
            </a:r>
            <a:br/>
            <a:r>
              <a:t>학생 수 입력: 2</a:t>
            </a:r>
            <a:br/>
            <a:br/>
            <a:r>
              <a:t>[1번째 학생] 이름: 김대덕, C언어 점수: 92</a:t>
            </a:r>
            <a:br/>
            <a:r>
              <a:t>[2번째 학생] 이름: 이소마, C언어 점수: 75</a:t>
            </a:r>
            <a:br/>
            <a:br/>
            <a:r>
              <a:t>--- 결과 ---</a:t>
            </a:r>
            <a:br/>
            <a:r>
              <a:t>과목명: C언어</a:t>
            </a:r>
            <a:br/>
            <a:r>
              <a:t>이름: 김대덕 | 점수: 92 | 학점: A</a:t>
            </a:r>
            <a:br/>
            <a:r>
              <a:t>이름: 이소마 | 점수: 75 | 학점: C</a:t>
            </a:r>
            <a:b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